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40 秒。先给结论：今天讲两个引擎，一个把模型变成可解系统，一个把物性变成可调用服务。不要念标题，直接说“从分子到电网”这句话。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分钟。用听众自己的痛点开场：建模和物性各自有一套坑。强调不是“又一个求解器”，而是把重复劳动收进编译链。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40 秒。从左到右讲五步，每步一句话；重点落在“编译链”而不是单个求解器。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20 秒。不要逐行念 XML；指出三件事：声明式、组件化、编译期检查。让听众知道模型不是脚本。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20 秒。这一页回答“为什么不用 scipy 写脚本”。重点是工程判断：结构、因果、事件决定成败。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 30 秒。先给三个数字，再展示命令与输出。强调 0.32 秒是整进程墙钟，不是内核时间；学术版覆盖范围要主动说清楚。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20 秒。两边代码几乎一样：一次性调用、不保留状态。强调 MIT 与“不含引擎代码”，这是采用的关键。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40 秒。五个子命令一次讲完，不要展开；重点说“单位可带、输出可机读、失败响亮”。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 20 秒。挑两三个数字讲，不要念表；重点讲右栏的失败语义——这是工程用户最在意的。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30 秒。这页建立信任：不是 demo，是可复跑的工程判据。数字要能报出来源。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分钟。XSD 是标准工作的抓手：编辑器、CI、模型仓库都能用。强调 MIT 与实测 0 error。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 10 秒。把边界讲清楚：学术版免费但有限；客户端 MIT；商业用途找邮箱。不要含糊。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分钟。给三类人各自一个入口；强调反馈承诺，让听众知道试了不会石沉大海。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分钟收尾。让听众扫一个码就好：ESML、MMPROPS、反馈。重复邮箱与 slogan，结束。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备份页，不占 20 分钟。Q&amp;A 时直接投这页给命令。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822960" cy="54864"/>
          </a:xfrm>
          <a:prstGeom prst="rect">
            <a:avLst/>
          </a:prstGeom>
          <a:solidFill>
            <a:srgbClr val="2FA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9D6C0"/>
                </a:solidFill>
                <a:latin typeface="Noto Sans CJK SC"/>
                <a:ea typeface="Noto Sans CJK SC"/>
              </a:rPr>
              <a:t>Ai4Energy · 20 分钟技术分享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Noto Sans CJK SC"/>
                <a:ea typeface="Noto Sans CJK SC"/>
              </a:rPr>
              <a:t>ESML × MMPROPS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D7EFE2"/>
                </a:solidFill>
                <a:latin typeface="Noto Sans CJK SC"/>
                <a:ea typeface="Noto Sans CJK SC"/>
              </a:rPr>
              <a:t>从分子到电网：能源系统的建模与物性计算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10515600" cy="0"/>
          </a:xfrm>
          <a:prstGeom prst="line">
            <a:avLst/>
          </a:prstGeom>
          <a:ln w="9525">
            <a:solidFill>
              <a:srgbClr val="2C5A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31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A9D6C0"/>
                </a:solidFill>
                <a:latin typeface="Noto Sans CJK SC"/>
                <a:ea typeface="Noto Sans CJK SC"/>
              </a:rPr>
              <a:t>声明式模型 · 编译求解 · 独立物性引擎 · MIT 客户端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7FA99A"/>
                </a:solidFill>
                <a:latin typeface="Noto Sans CJK SC"/>
                <a:ea typeface="Noto Sans CJK SC"/>
              </a:rPr>
              <a:t>2026 · Ai4Energy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01 / 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两道坎：模型怎么变成可解系统，物性从哪里来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828800"/>
            <a:ext cx="5212080" cy="265176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8A5B"/>
                </a:solidFill>
                <a:latin typeface="Noto Sans CJK SC"/>
                <a:ea typeface="Noto Sans CJK SC"/>
              </a:rPr>
              <a:t>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7211C"/>
                </a:solidFill>
                <a:latin typeface="Noto Sans CJK SC"/>
                <a:ea typeface="Noto Sans CJK SC"/>
              </a:rPr>
              <a:t>手写 Newton、稀疏雅可比、初值、事件……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7211C"/>
                </a:solidFill>
                <a:latin typeface="Noto Sans CJK SC"/>
                <a:ea typeface="Noto Sans CJK SC"/>
              </a:rPr>
              <a:t>每换一个模型，重来一遍。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8A5B"/>
                </a:solidFill>
                <a:latin typeface="Noto Sans CJK SC"/>
                <a:ea typeface="Noto Sans CJK SC"/>
              </a:rPr>
              <a:t>结果：换模型不再重写求解器。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265176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8A5B"/>
                </a:solidFill>
                <a:latin typeface="Noto Sans CJK SC"/>
                <a:ea typeface="Noto Sans CJK SC"/>
              </a:rPr>
              <a:t>物性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7211C"/>
                </a:solidFill>
                <a:latin typeface="Noto Sans CJK SC"/>
                <a:ea typeface="Noto Sans CJK SC"/>
              </a:rPr>
              <a:t>状态点、饱和、闪蒸、相平衡；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7211C"/>
                </a:solidFill>
                <a:latin typeface="Noto Sans CJK SC"/>
                <a:ea typeface="Noto Sans CJK SC"/>
              </a:rPr>
              <a:t>关联式、单位、收敛各一套。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03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8A5B"/>
                </a:solidFill>
                <a:latin typeface="Noto Sans CJK SC"/>
                <a:ea typeface="Noto Sans CJK SC"/>
              </a:rPr>
              <a:t>结果：一次调用拿到带单位的值。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B3B2E"/>
                </a:solidFill>
                <a:latin typeface="Noto Sans CJK SC"/>
                <a:ea typeface="Noto Sans CJK SC"/>
              </a:rPr>
              <a:t>我们做了两个引擎：一个管模型，一个管物性。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02 / ESML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把模型写成方程，剩下的交给编译器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2011680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2011680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60920" y="2011680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762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声明式模型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1762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展平 · 约简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21762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结构分析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1762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因果化 · 撕裂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17627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求解 · 积分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XML / 方程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DAE / 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BLT / 分块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显式步 / 隐式块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60604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牛顿 / BDF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FAE7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FAE7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FAE7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487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2FAE73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862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B3B2E"/>
                </a:solidFill>
                <a:latin typeface="Noto Sans CJK SC"/>
                <a:ea typeface="Noto Sans CJK SC"/>
              </a:rPr>
              <a:t>同一份模型，稳态与动态共用一条编译链。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Noto Sans CJK SC"/>
                <a:ea typeface="Noto Sans CJK SC"/>
              </a:rPr>
              <a:t>结构、单位、因果在编译期检查；不是运行时猜。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789920" cy="77724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303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8A5B"/>
                </a:solidFill>
                <a:latin typeface="Noto Sans CJK SC"/>
                <a:ea typeface="Noto Sans CJK SC"/>
              </a:rPr>
              <a:t>编译期：结构 / 单位 / 因果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2303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0B3B2E"/>
                </a:solidFill>
                <a:latin typeface="Noto Sans CJK SC"/>
                <a:ea typeface="Noto Sans CJK SC"/>
              </a:rPr>
              <a:t>运行时：数值 / 事件 / 积分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02 / ESML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一个模型长什么样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00200"/>
            <a:ext cx="6492240" cy="329184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28216"/>
            <a:ext cx="6217920" cy="3090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&lt;modelType name="Decay"&gt;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&lt;parameters&gt;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&lt;parameter name="lam" type="real"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           default="0.5"/&gt;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&lt;/parameters&gt;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&lt;variables&gt;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&lt;variable name="x" type="real"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          role="state" initial="1.0"/&gt;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&lt;/variables&gt;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&lt;equations&gt;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&lt;equation&gt;Der(x) = -lam * x&lt;/equation&gt;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&lt;/equations&gt;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&lt;/modelType&gt;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7830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8A5B"/>
                </a:solidFill>
                <a:latin typeface="Noto Sans CJK SC"/>
                <a:ea typeface="Noto Sans CJK SC"/>
              </a:rPr>
              <a:t>纯声明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240280"/>
            <a:ext cx="3931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• 变量 / 参数 / 方程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• 组件、连接、数组与序集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• 编译期做结构检查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• 同一模型可稳态、可动态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749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Noto Sans CJK SC"/>
                <a:ea typeface="Noto Sans CJK SC"/>
              </a:rPr>
              <a:t>模型是数据；求解器是编译器的一部分。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02 / ESML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为什么不是一段脚本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37360"/>
            <a:ext cx="3474720" cy="306324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474720" cy="306324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737360"/>
            <a:ext cx="3474720" cy="306324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结构分析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因果化 / 撕裂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一致初值 / 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BLT 分块、指标约简：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先知道哪些方程要一起解。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能显式算的显式算，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剩下尽量小的隐式块。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1460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DAE 初值一致化；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17211C"/>
                </a:solidFill>
                <a:latin typeface="Noto Sans CJK SC"/>
                <a:ea typeface="Noto Sans CJK SC"/>
              </a:rPr>
              <a:t>事件定位不靠猜。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74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B3B2E"/>
                </a:solidFill>
                <a:latin typeface="Noto Sans CJK SC"/>
                <a:ea typeface="Noto Sans CJK SC"/>
              </a:rPr>
              <a:t>这些不是库函数，是编译链的一等公民。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03 / 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IEEE 300 潮流：4,604 个未知量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6459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8A5B"/>
                </a:solidFill>
                <a:latin typeface="DejaVu Sans Mono"/>
                <a:ea typeface="DejaVu Sans Mono"/>
              </a:rPr>
              <a:t>4,604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8A5B"/>
                </a:solidFill>
                <a:latin typeface="DejaVu Sans Mono"/>
                <a:ea typeface="DejaVu Sans Mono"/>
              </a:rPr>
              <a:t>0.32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64592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F8A5B"/>
                </a:solidFill>
                <a:latin typeface="DejaVu Sans Mono"/>
                <a:ea typeface="DejaVu Sans Mono"/>
              </a:rPr>
              <a:t>0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展平未知量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整进程墙钟（本机 release）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XSD 校验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7589520" cy="114300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962656"/>
            <a:ext cx="7315200" cy="941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$ esml solve .../cases/case300.comp.esml -L library --json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{"apiVersion":"esml.solve/v1",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"system":"Grid","unknowns":4604, ...}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2608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>
                <a:solidFill>
                  <a:srgbClr val="17211C"/>
                </a:solidFill>
                <a:latin typeface="DejaVu Sans Mono"/>
                <a:ea typeface="DejaVu Sans Mono"/>
              </a:rPr>
              <a:t>b1.net.Vm  1.0284201463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>
                <a:solidFill>
                  <a:srgbClr val="17211C"/>
                </a:solidFill>
                <a:latin typeface="DejaVu Sans Mono"/>
                <a:ea typeface="DejaVu Sans Mono"/>
              </a:rPr>
              <a:t>b1.net.Va  0.1041501799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>
                <a:solidFill>
                  <a:srgbClr val="17211C"/>
                </a:solidFill>
                <a:latin typeface="DejaVu Sans Mono"/>
                <a:ea typeface="DejaVu Sans Mono"/>
              </a:rPr>
              <a:t>b2.net.Vm  1.0353403863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Noto Sans CJK SC"/>
                <a:ea typeface="Noto Sans CJK SC"/>
              </a:rPr>
              <a:t>学术版 ≤16,384 未知量；IEEE 2869 / 1354 / 9241 需商业版。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Noto Sans CJK SC"/>
                <a:ea typeface="Noto Sans CJK SC"/>
              </a:rPr>
              <a:t>学术版启动提示走 stderr；stdout 只有 JSON。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03 / 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Python / Julia：一次性调用，MIT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8A5B"/>
                </a:solidFill>
                <a:latin typeface="Noto Sans CJK SC"/>
                <a:ea typeface="Noto Sans CJK SC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727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8A5B"/>
                </a:solidFill>
                <a:latin typeface="Noto Sans CJK SC"/>
                <a:ea typeface="Noto Sans CJK SC"/>
              </a:rPr>
              <a:t>Julia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5029200" cy="1810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from esml import solve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out = solve(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"case300.comp.esml",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libraries=["library"],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print(out.unknowns,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  out.values["b1.net.Vm"])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002536"/>
            <a:ext cx="5029200" cy="1810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using ESML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out = solve(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"case300.comp.esml";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libraries=["library"],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println(out.unknowns,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7EFE2"/>
                </a:solidFill>
                <a:latin typeface="DejaVu Sans Mono"/>
                <a:ea typeface="DejaVu Sans Mono"/>
              </a:rPr>
              <a:t>        out.values["b1.net.Vm"])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3B2E"/>
                </a:solidFill>
                <a:latin typeface="Noto Sans CJK SC"/>
                <a:ea typeface="Noto Sans CJK SC"/>
              </a:rPr>
              <a:t>只通过公开 JSON 协议调用引擎，不含引擎代码。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3"/>
                </a:solidFill>
                <a:latin typeface="DejaVu Sans Mono"/>
                <a:ea typeface="DejaVu Sans Mono"/>
              </a:rPr>
              <a:t>pip install git+…@v0.1.0   ·   Pkg.add(url=…, rev="v0.1.0")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C6B63"/>
                </a:solidFill>
                <a:latin typeface="Noto Sans CJK SC"/>
                <a:ea typeface="Noto Sans CJK SC"/>
              </a:rPr>
              <a:t>无状态：每次调用一个进程。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04 / MMPROPS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物性：从状态点到相平衡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37360"/>
            <a:ext cx="1965960" cy="25146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1737360"/>
            <a:ext cx="1965960" cy="25146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4920" y="1737360"/>
            <a:ext cx="1965960" cy="25146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69479" y="1737360"/>
            <a:ext cx="1965960" cy="25146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64040" y="1737360"/>
            <a:ext cx="1965960" cy="25146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DejaVu Sans Mono"/>
                <a:ea typeface="DejaVu Sans Mono"/>
              </a:rPr>
              <a:t>props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DejaVu Sans Mono"/>
                <a:ea typeface="DejaVu Sans Mono"/>
              </a:rPr>
              <a:t>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DejaVu Sans Mono"/>
                <a:ea typeface="DejaVu Sans Mono"/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7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DejaVu Sans Mono"/>
                <a:ea typeface="DejaVu Sans Mono"/>
              </a:rPr>
              <a:t>vle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8" y="1901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DejaVu Sans Mono"/>
                <a:ea typeface="DejaVu Sans Mono"/>
              </a:rPr>
              <a:t>envelope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331720"/>
            <a:ext cx="1737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T,p 状态点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rho / h / s / 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331720"/>
            <a:ext cx="1737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饱和态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psat / rho / hfg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31720"/>
            <a:ext cx="1737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闪蒸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p,h 或 p,s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2331720"/>
            <a:ext cx="1737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二元 VLE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泡点 / 露点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331720"/>
            <a:ext cx="1737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T-x-y 包络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17211C"/>
                </a:solidFill>
                <a:latin typeface="Noto Sans CJK SC"/>
                <a:ea typeface="Noto Sans CJK SC"/>
              </a:rPr>
              <a:t>固定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3B2E"/>
                </a:solidFill>
                <a:latin typeface="Noto Sans CJK SC"/>
                <a:ea typeface="Noto Sans CJK SC"/>
              </a:rPr>
              <a:t>数值可带单位；输出 JSON / CSV / 文本。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Noto Sans CJK SC"/>
                <a:ea typeface="Noto Sans CJK SC"/>
              </a:rPr>
              <a:t>水/蒸汽、制冷剂、二元混合物；数据包可替换。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04 / MMPROPS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水蒸汽与甲烷-乙烷：实测值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7040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3B2E"/>
                          </a:solidFill>
                          <a:latin typeface="Noto Sans CJK SC"/>
                          <a:ea typeface="Noto Sans CJK SC"/>
                        </a:rPr>
                        <a:t>量</a:t>
                      </a:r>
                    </a:p>
                  </a:txBody>
                  <a:tcPr marL="73152" marR="54864" marT="27432" marB="27432">
                    <a:solidFill>
                      <a:srgbClr val="EA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3B2E"/>
                          </a:solidFill>
                          <a:latin typeface="Noto Sans CJK SC"/>
                          <a:ea typeface="Noto Sans CJK SC"/>
                        </a:rPr>
                        <a:t>值</a:t>
                      </a:r>
                    </a:p>
                  </a:txBody>
                  <a:tcPr marL="73152" marR="54864" marT="27432" marB="27432">
                    <a:solidFill>
                      <a:srgbClr val="EAF6F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水 rho（300 K / 1 bar）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996.556338 kg/m3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水 h</a:t>
                      </a:r>
                    </a:p>
                  </a:txBody>
                  <a:tcPr marL="73152" marR="54864" marT="27432" marB="27432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112653.679689 J/kg</a:t>
                      </a:r>
                    </a:p>
                  </a:txBody>
                  <a:tcPr marL="73152" marR="54864" marT="27432" marB="27432">
                    <a:solidFill>
                      <a:srgbClr val="F4F7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水 psat（373.15 K）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101417.996368 Pa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闪蒸 T / x</a:t>
                      </a:r>
                    </a:p>
                  </a:txBody>
                  <a:tcPr marL="73152" marR="54864" marT="27432" marB="27432">
                    <a:solidFill>
                      <a:srgbClr val="F4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372.755929 K / 0.258033</a:t>
                      </a:r>
                    </a:p>
                  </a:txBody>
                  <a:tcPr marL="73152" marR="54864" marT="27432" marB="27432">
                    <a:solidFill>
                      <a:srgbClr val="F4F7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VLE p / y1（220 K）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7211C"/>
                          </a:solidFill>
                          <a:latin typeface="Noto Sans CJK SC"/>
                          <a:ea typeface="Noto Sans CJK SC"/>
                        </a:rPr>
                        <a:t>3993218.99 Pa / 0.847911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737360"/>
            <a:ext cx="3566160" cy="338328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385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8A5B"/>
                </a:solidFill>
                <a:latin typeface="Noto Sans CJK SC"/>
                <a:ea typeface="Noto Sans CJK SC"/>
              </a:rPr>
              <a:t>设计取舍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37744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两相无定义量返回 null，不是 0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未收敛 / 超范围响亮失败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坏数据包不退回内嵌基线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VLE 只支持二元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所有数字可复跑：tutorials/water-steam。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05 / 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不是 demo：可复跑的工程判据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8A5B"/>
                </a:solidFill>
                <a:latin typeface="DejaVu Sans Mono"/>
                <a:ea typeface="DejaVu Sans Mono"/>
              </a:rPr>
              <a:t>2,890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8A5B"/>
                </a:solidFill>
                <a:latin typeface="DejaVu Sans Mono"/>
                <a:ea typeface="DejaVu Sans Mono"/>
              </a:rPr>
              <a:t>23/23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8A5B"/>
                </a:solidFill>
                <a:latin typeface="DejaVu Sans Mono"/>
                <a:ea typeface="DejaVu Sans Mono"/>
              </a:rPr>
              <a:t>1,058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8A5B"/>
                </a:solidFill>
                <a:latin typeface="DejaVu Sans Mono"/>
                <a:ea typeface="DejaVu Sans Mono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测试通过 / 0 失败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合入闸门 G0–G22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423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仓库内 .esml 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423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crate 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B3B2E"/>
                </a:solidFill>
                <a:latin typeface="Noto Sans CJK SC"/>
                <a:ea typeface="Noto Sans CJK SC"/>
              </a:rPr>
              <a:t>每个数字都有日志和复跑命令。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Noto Sans CJK SC"/>
                <a:ea typeface="Noto Sans CJK SC"/>
              </a:rPr>
              <a:t>全量测试 2890 passed / 0 failed / 32 ignored（271 个测试目标）；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5C6B63"/>
                </a:solidFill>
                <a:latin typeface="Noto Sans CJK SC"/>
                <a:ea typeface="Noto Sans CJK SC"/>
              </a:rPr>
              <a:t>合入闸门 23/23；conformance 语料与 XSD 对拍。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05 / 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XML 模型，一条命令校验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37360"/>
            <a:ext cx="7406640" cy="160020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65376"/>
            <a:ext cx="7132320" cy="1399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for f in common compute basic; do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 curl -O "https://docs.ai4energy.cn/schema/esml-canonical-$f.xsd"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done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xmllint --noout --schema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 esml-canonical-basic.xsd model.esml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31089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• canonical 命名空间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• MIT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• IEEE 300：0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8A5B"/>
                </a:solidFill>
                <a:latin typeface="DejaVu Sans Mono"/>
                <a:ea typeface="DejaVu Sans Mono"/>
              </a:rPr>
              <a:t>https://docs.ai4energy.cn/schema/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Noto Sans CJK SC"/>
                <a:ea typeface="Noto Sans CJK SC"/>
              </a:rPr>
              <a:t>XML 工具、CI、模型仓库都能在入库前校验；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Noto Sans CJK SC"/>
                <a:ea typeface="Noto Sans CJK SC"/>
              </a:rPr>
              <a:t>不必启动求解器。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规范正文与语料：github.com/ai4energy/esml-language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06 / 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学术免费，商业授权；客户端 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37360"/>
            <a:ext cx="5212080" cy="274320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8A5B"/>
                </a:solidFill>
                <a:latin typeface="Noto Sans CJK SC"/>
                <a:ea typeface="Noto Sans CJK SC"/>
              </a:rPr>
              <a:t>学术版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B3B2E"/>
                </a:solidFill>
                <a:latin typeface="Noto Sans CJK SC"/>
                <a:ea typeface="Noto Sans CJK SC"/>
              </a:rPr>
              <a:t>≤ 16,384 展平未知量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引擎核心：solve / simulate /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import / check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学术、教学、个人非商业免费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743200"/>
          </a:xfrm>
          <a:prstGeom prst="roundRect">
            <a:avLst>
              <a:gd name="adj" fmla="val 10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F8A5B"/>
                </a:solidFill>
                <a:latin typeface="Noto Sans CJK SC"/>
                <a:ea typeface="Noto Sans CJK SC"/>
              </a:rPr>
              <a:t>商业版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B3B2E"/>
                </a:solidFill>
                <a:latin typeface="Noto Sans CJK SC"/>
                <a:ea typeface="Noto Sans CJK SC"/>
              </a:rPr>
              <a:t>无规模限制 + DTIL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常驻会话 / predict / snapshot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商业用途需授权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7211C"/>
                </a:solidFill>
                <a:latin typeface="Noto Sans CJK SC"/>
                <a:ea typeface="Noto Sans CJK SC"/>
              </a:rPr>
              <a:t>mingtao.li@gmail.com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B3B2E"/>
                </a:solidFill>
                <a:latin typeface="Noto Sans CJK SC"/>
                <a:ea typeface="Noto Sans CJK SC"/>
              </a:rPr>
              <a:t>下载：ai4energy/esml · ai4energy/mmprops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035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C6B63"/>
                </a:solidFill>
                <a:latin typeface="Noto Sans CJK SC"/>
                <a:ea typeface="Noto Sans CJK SC"/>
              </a:rPr>
              <a:t>客户端：esml-python · ESML.jl · mmprops-python · MMProps.jl（均 MIT）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06 / 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谁适合现在试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3736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737360"/>
            <a:ext cx="3474720" cy="256032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课程 / 学生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385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电力 / 能源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385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F8A5B"/>
                </a:solidFill>
                <a:latin typeface="Noto Sans CJK SC"/>
                <a:ea typeface="Noto Sans CJK SC"/>
              </a:rPr>
              <a:t>过程 / 热力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IEEE 300、水蒸汽 / VLE、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十分钟教程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潮流、稳态 / 动态、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XSD 入库校验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物性、闪蒸、相包络、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7211C"/>
                </a:solidFill>
                <a:latin typeface="Noto Sans CJK SC"/>
                <a:ea typeface="Noto Sans CJK SC"/>
              </a:rPr>
              <a:t>数据包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B3B2E"/>
                </a:solidFill>
                <a:latin typeface="Noto Sans CJK SC"/>
                <a:ea typeface="Noto Sans CJK SC"/>
              </a:rPr>
              <a:t>第一英里问题按 bug 处理，24 小时内首响。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06 / 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下一步：跑一个你自己的模型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r-es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28800"/>
            <a:ext cx="1417320" cy="1417320"/>
          </a:xfrm>
          <a:prstGeom prst="rect">
            <a:avLst/>
          </a:prstGeom>
        </p:spPr>
      </p:pic>
      <p:pic>
        <p:nvPicPr>
          <p:cNvPr id="6" name="Picture 5" descr="qr-mmp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28800"/>
            <a:ext cx="1417320" cy="1417320"/>
          </a:xfrm>
          <a:prstGeom prst="rect">
            <a:avLst/>
          </a:prstGeom>
        </p:spPr>
      </p:pic>
      <p:pic>
        <p:nvPicPr>
          <p:cNvPr id="7" name="Picture 6" descr="qr-feed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82880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3B2E"/>
                </a:solidFill>
                <a:latin typeface="Noto Sans CJK SC"/>
                <a:ea typeface="Noto Sans CJK SC"/>
              </a:rPr>
              <a:t>ESML 下载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3B2E"/>
                </a:solidFill>
                <a:latin typeface="Noto Sans CJK SC"/>
                <a:ea typeface="Noto Sans CJK SC"/>
              </a:rPr>
              <a:t>MMPROPS 下载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3B2E"/>
                </a:solidFill>
                <a:latin typeface="Noto Sans CJK SC"/>
                <a:ea typeface="Noto Sans CJK SC"/>
              </a:rPr>
              <a:t>反馈与访谈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0B3B2E"/>
                </a:solidFill>
                <a:latin typeface="Noto Sans CJK SC"/>
                <a:ea typeface="Noto Sans CJK SC"/>
              </a:rPr>
              <a:t>下载 → 教程 → 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Noto Sans CJK SC"/>
                <a:ea typeface="Noto Sans CJK SC"/>
              </a:rPr>
              <a:t>mingtao.li@gmail.com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C6B63"/>
                </a:solidFill>
                <a:latin typeface="Noto Sans CJK SC"/>
                <a:ea typeface="Noto Sans CJK SC"/>
              </a:rPr>
              <a:t>从分子到电网。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8A5B"/>
                </a:solidFill>
                <a:latin typeface="Noto Sans CJK SC"/>
                <a:ea typeface="Noto Sans CJK SC"/>
              </a:rPr>
              <a:t>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B3B2E"/>
                </a:solidFill>
                <a:latin typeface="Noto Sans CJK SC"/>
                <a:ea typeface="Noto Sans CJK SC"/>
              </a:rPr>
              <a:t>命令清单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417320"/>
            <a:ext cx="731520" cy="0"/>
          </a:xfrm>
          <a:prstGeom prst="line">
            <a:avLst/>
          </a:prstGeom>
          <a:ln w="25400">
            <a:solidFill>
              <a:srgbClr val="2FA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45920"/>
            <a:ext cx="10789920" cy="2926080"/>
          </a:xfrm>
          <a:prstGeom prst="roundRect">
            <a:avLst>
              <a:gd name="adj" fmla="val 6000"/>
            </a:avLst>
          </a:prstGeom>
          <a:solidFill>
            <a:srgbClr val="102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73936"/>
            <a:ext cx="10515600" cy="2724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# ESML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tar -xzf esml-academic-1.8.0-linux-x86_64.tar.gz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export ESML_HOME=$PWD/esml-academic-1.8.0-linux-x86_64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$ESML_HOME/esml solve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 $ESML_HOME/library/domains/power/cases/case300.comp.esml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 -L $ESML_HOME/library --json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# MMPROPS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tar -xzf mmprops-academic-0.6.0-linux-x86_64.tar.gz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export MMPROPS_HOME=$PWD/mmprops-academic-0.6.0-linux-x86_64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$MMPROPS_HOME/mmprops props --fluid water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D7EFE2"/>
                </a:solidFill>
                <a:latin typeface="DejaVu Sans Mono"/>
                <a:ea typeface="DejaVu Sans Mono"/>
              </a:rPr>
              <a:t>  --t "300 K" --p "1 bar" --format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C6B63"/>
                </a:solidFill>
                <a:latin typeface="Noto Sans CJK SC"/>
                <a:ea typeface="Noto Sans CJK SC"/>
              </a:rPr>
              <a:t>教程：github.com/ai4energy/esml/tree/main/tutorials · 反馈：ai4energy.cn/feedback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17352" cy="0"/>
          </a:xfrm>
          <a:prstGeom prst="line">
            <a:avLst/>
          </a:prstGeom>
          <a:ln w="9525">
            <a:solidFill>
              <a:srgbClr val="DC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Noto Sans CJK SC"/>
                <a:ea typeface="Noto Sans CJK SC"/>
              </a:rPr>
              <a:t>Ai4Energy · ESML / MMPROPS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9991"/>
                </a:solidFill>
                <a:latin typeface="DejaVu Sans Mono"/>
                <a:ea typeface="DejaVu Sans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